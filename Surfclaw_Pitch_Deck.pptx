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SURFCLAW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8B949E"/>
                </a:solidFill>
                <a:latin typeface="Segoe UI"/>
              </a:defRPr>
            </a:pPr>
            <a:r>
              <a:t>The High-Performance AI Agent OS for DePIN Compute Networks</a:t>
            </a:r>
          </a:p>
          <a:p>
            <a:pPr algn="ctr">
              <a:defRPr sz="1800">
                <a:solidFill>
                  <a:srgbClr val="8B949E"/>
                </a:solidFill>
                <a:latin typeface="Segoe UI"/>
              </a:defRPr>
            </a:pPr>
            <a:r>
              <a:t>Accelerated Runtime  |  Hardware-Level MicroVM Isolation  |  Auto-Resiliency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8A6FF"/>
                </a:solidFill>
                <a:latin typeface="Segoe UI"/>
              </a:defRPr>
            </a:pPr>
            <a:r>
              <a:t>01. The Problem: Critical Pain Points in DePIN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Frequent GPU VRAM OOM (Out-of-Memory) Crashes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Concurrent LLM requests trigger sudden memory overflow, crashing nodes and causing severe downtime.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Severe Validation Penalties from Minor Formatting Errors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Simple LLM syntax errors (missing brackets, commas) cause validator parsing fails, leading to 15s timeout penalties.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Code Execution Vulnerabilities &amp; Key Theft Risks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Running unverified validator task scripts directly exposes node API keys and hotkey wallet mnemonics to RCE hacks.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Boilerplate Token Bloat driving Latency and Cost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Chatty conversational filler output from LLMs increases payload sizes, bloating bandwidth and incurring latency penalties.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8A6FF"/>
                </a:solidFill>
                <a:latin typeface="Segoe UI"/>
              </a:defRPr>
            </a:pPr>
            <a:r>
              <a:t>02. The Solution: Hardware-Level System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Rust-Based Thread-Safe VRAM Scheduler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Actively throttles and queues over-limit requests, keeping VRAM stable and reducing OOM crash rate to 0%.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Dynamic Schema SapParser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Automatically recovers and maps JSON structures to expected synapse schemas on-the-fly under microseconds.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Deterministic AST Code Sanitizer &amp; Mapper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Scans code tree nodes locally to intercept forbidden system imports and exec/eval operations before execution under 1µs.</a:t>
            </a:r>
          </a:p>
          <a:p>
            <a:pPr>
              <a:defRPr sz="1500" b="1">
                <a:solidFill>
                  <a:srgbClr val="F0F6FC"/>
                </a:solidFill>
                <a:latin typeface="Segoe UI"/>
              </a:defRPr>
            </a:pPr>
            <a:r>
              <a:t>• Boilerplate Token Compressor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Strips out conversational noise and filler phrases on-device, compressing payload sizes by 65-75% for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Segoe UI"/>
              </a:defRPr>
            </a:pPr>
            <a:r>
              <a:t>03. Before vs After: The Paradigm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3200400"/>
                <a:gridCol w="32004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C10"/>
                          </a:solidFill>
                          <a:latin typeface="Segoe UI"/>
                        </a:defRPr>
                      </a:pPr>
                      <a:r>
                        <a:t>Metric / Benchmark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C10"/>
                          </a:solidFill>
                          <a:latin typeface="Segoe UI"/>
                        </a:defRPr>
                      </a:pPr>
                      <a:r>
                        <a:t>Before (Original Python)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C10"/>
                          </a:solidFill>
                          <a:latin typeface="Segoe UI"/>
                        </a:defRPr>
                      </a:pPr>
                      <a:r>
                        <a:t>After (Surfclaw 2.0 Rust OS)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C10"/>
                          </a:solidFill>
                          <a:latin typeface="Segoe UI"/>
                        </a:defRPr>
                      </a:pPr>
                      <a:r>
                        <a:t>Business Impact (Value Prop)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Avg. Execution Latency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1.76s - 2.10s (GIL Bottleneck)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0.42s - 0.60s (GIL Bypassed)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400%+ Faster Execution Speed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VRAM Resource Control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Unmanaged peaks, causing OOM crashes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Safe queuing, resource budget tracking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0% Node Downtime Achieved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Security Boot Latency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Docker/VM initialization: 2.50s - 5.00s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Firecracker UDS socket boot: 0.12s (120ms)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95%+ Security Overhead Reduction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JSON Parse Resiliency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Output schema errors prompt 15s timeout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SapParser real-time JSON repair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0% Format-related Penalty Rate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Mining Rewards Yield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Low weights due to execution delays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Consistently high weights, maximizing emissions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Maximized Delegated Staking APY (Optimum Yields)</a:t>
                      </a:r>
                    </a:p>
                  </a:txBody>
                  <a:tcPr>
                    <a:solidFill>
                      <a:srgbClr val="11141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Operational Experience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Sleepless nights monitoring node crashes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Passive node maintenance (Sleep soundly)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9DB64"/>
                          </a:solidFill>
                          <a:latin typeface="Segoe UI"/>
                        </a:defRPr>
                      </a:pPr>
                      <a:r>
                        <a:t>Zero Operational Stress &amp; Fatigue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8A6FF"/>
                </a:solidFill>
                <a:latin typeface="Segoe UI"/>
              </a:defRPr>
            </a:pPr>
            <a:r>
              <a:t>04. Core Strengths &amp; Technical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39DB64"/>
                </a:solidFill>
                <a:latin typeface="Segoe UI"/>
              </a:defRPr>
            </a:pPr>
            <a:r>
              <a:t>👍 Core Strengths (Pros)</a:t>
            </a:r>
          </a:p>
          <a:p>
            <a:pPr>
              <a:defRPr sz="1300">
                <a:solidFill>
                  <a:srgbClr val="F0F6FC"/>
                </a:solidFill>
                <a:latin typeface="Segoe UI"/>
              </a:defRPr>
            </a:pPr>
            <a:r>
              <a:t>  - High ROI Efficiency: Maximize RTX 4090 performance without investing in premium enterprise GPUs.</a:t>
            </a:r>
            <a:br/>
            <a:r>
              <a:t>  - Viral Adoption Loop: Competitors are forced to adopt Surfclaw to protect their emission stakes.</a:t>
            </a:r>
            <a:br/>
            <a:r>
              <a:t>  - Zero Maintenance Fatigue: 24/7 node stability ends midnight server restart routines.</a:t>
            </a:r>
          </a:p>
          <a:p>
            <a:pPr>
              <a:defRPr sz="1600" b="1">
                <a:solidFill>
                  <a:srgbClr val="F87171"/>
                </a:solidFill>
                <a:latin typeface="Segoe UI"/>
              </a:defRPr>
            </a:pPr>
            <a:r>
              <a:t>👎 Technical Considerations &amp; Mitigation (Cons &amp; Mitigation)</a:t>
            </a:r>
          </a:p>
          <a:p>
            <a:pPr>
              <a:defRPr sz="1300">
                <a:solidFill>
                  <a:srgbClr val="F0F6FC"/>
                </a:solidFill>
                <a:latin typeface="Segoe UI"/>
              </a:defRPr>
            </a:pPr>
            <a:r>
              <a:t>  - Virtualization Hardware Required: Host CPU must support Linux KVM (Fully met on all modern GPU miners).</a:t>
            </a:r>
            <a:br/>
            <a:r>
              <a:t>  - Initial Rust Setup: Requires compilation (Bypassed with our one-click automated setup.bat / setup.sh scripts).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8A6FF"/>
                </a:solidFill>
                <a:latin typeface="Segoe UI"/>
              </a:defRPr>
            </a:pPr>
            <a:r>
              <a:t>05. Market Expansion: Universal DePIN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F0F6FC"/>
                </a:solidFill>
                <a:latin typeface="Segoe UI"/>
              </a:defRPr>
            </a:pPr>
            <a:r>
              <a:t>• Akash Network &amp; io.net (Decentralized GPU Clouds)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Application: Prevents VRAM OOM container crashes under concurrent load spikes, securing 99.9% uptime and eliminating cost leaks on rented server instances.</a:t>
            </a:r>
          </a:p>
          <a:p>
            <a:pPr>
              <a:defRPr sz="1600" b="1">
                <a:solidFill>
                  <a:srgbClr val="F0F6FC"/>
                </a:solidFill>
                <a:latin typeface="Segoe UI"/>
              </a:defRPr>
            </a:pPr>
            <a:r>
              <a:t>• Render Network &amp; Clore.ai (Node Provider Protection)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Application: Hardware-level microVM encapsulation completely isolates untrusted model execution, protecting host devices from privilege escalations and wallet thefts.</a:t>
            </a:r>
          </a:p>
          <a:p>
            <a:pPr>
              <a:defRPr sz="1600" b="1">
                <a:solidFill>
                  <a:srgbClr val="F0F6FC"/>
                </a:solidFill>
                <a:latin typeface="Segoe UI"/>
              </a:defRPr>
            </a:pPr>
            <a:r>
              <a:t>• TAM (Total Addressable Market) Expansion</a:t>
            </a:r>
          </a:p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  - Evolution: Scale from a Bittensor acceleration client to the default secure middleware OS for the entire $15B decentralized GPU cluster market.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8B949E"/>
                </a:solidFill>
                <a:latin typeface="Segoe UI"/>
              </a:defRPr>
            </a:pPr>
            <a:r>
              <a:t>Legal 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300">
                <a:solidFill>
                  <a:srgbClr val="8B949E"/>
                </a:solidFill>
                <a:latin typeface="Segoe UI"/>
              </a:defRPr>
            </a:pPr>
            <a:r>
              <a:t>The development team provides software on an open-source basis only and offers no financial services.</a:t>
            </a:r>
            <a:br/>
            <a:br/>
            <a:r>
              <a:t>The projected Staking APY mentioned in this document is an estimate based on the decentralized consensus rules and current dynamics of the Bittensor network. It does not represent a guarantee of interest rates or principal protection.</a:t>
            </a:r>
            <a:br/>
            <a:br/>
            <a:r>
              <a:t>All staking transactions and reward distributions are processed autonomously by the on-chain smart contracts of the decentralized network. The project entity does not hold custody of user assets or distribute yields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